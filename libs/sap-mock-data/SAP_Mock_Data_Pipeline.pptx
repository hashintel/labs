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SAP Mock Data Generation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0C0"/>
                </a:solidFill>
              </a:defRPr>
            </a:pPr>
            <a:r>
              <a:t>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1645920" cy="45720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CATALOG /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645920" cy="45720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RANDOM_SEED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57400"/>
            <a:ext cx="1645920" cy="45720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0">
                <a:solidFill>
                  <a:srgbClr val="003366"/>
                </a:solidFill>
              </a:defRPr>
            </a:pPr>
            <a:r>
              <a:t>NUM_ORDERS</a:t>
            </a:r>
            <a:br/>
            <a:r>
              <a:t>NUM_MATERIALS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606040"/>
            <a:ext cx="1645920" cy="502920"/>
          </a:xfrm>
          <a:prstGeom prst="roundRect">
            <a:avLst/>
          </a:prstGeom>
          <a:solidFill>
            <a:srgbClr val="FFEB9C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800" b="0">
                <a:solidFill>
                  <a:srgbClr val="003366"/>
                </a:solidFill>
              </a:defRPr>
            </a:pPr>
            <a:r>
              <a:t>DIRTY_DATA</a:t>
            </a:r>
            <a:br/>
            <a:r>
              <a:t>DIRTY_DATA_RATE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914400"/>
            <a:ext cx="2011680" cy="73152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1. MASTERDATA</a:t>
            </a:r>
            <a:br/>
            <a:r>
              <a:t>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828800"/>
            <a:ext cx="2011680" cy="73152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2. TRANSACTIONS</a:t>
            </a:r>
            <a:br/>
            <a:r>
              <a:t>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743200"/>
            <a:ext cx="2011680" cy="73152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3. HUB &amp; SPOKE</a:t>
            </a:r>
            <a:br/>
            <a:r>
              <a:t>Simulation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657600"/>
            <a:ext cx="2011680" cy="73152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4. PRODUCTION</a:t>
            </a:r>
            <a:br/>
            <a:r>
              <a:t>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4572000"/>
            <a:ext cx="2011680" cy="73152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5. SCENARIO</a:t>
            </a:r>
            <a:br/>
            <a:r>
              <a:t>Injection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486400"/>
            <a:ext cx="2011680" cy="731520"/>
          </a:xfrm>
          <a:prstGeom prst="roundRect">
            <a:avLst/>
          </a:prstGeom>
          <a:solidFill>
            <a:srgbClr val="FFEB9C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1100" b="1">
                <a:solidFill>
                  <a:srgbClr val="003366"/>
                </a:solidFill>
              </a:defRPr>
            </a:pPr>
            <a:r>
              <a:t>6. DIRTY DATA</a:t>
            </a:r>
            <a:br/>
            <a:r>
              <a:t>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777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050"/>
                </a:solidFill>
              </a:defRPr>
            </a:pPr>
            <a:r>
              <a:t>OUTPUT 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051560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MARA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051560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MAKT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399032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MARC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99032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MARD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746504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MBEW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746504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MARM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0574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A6A6A6"/>
                </a:solidFill>
              </a:defRPr>
            </a:pPr>
            <a:r>
              <a:t>Transactions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2286000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VBAK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286000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VBAP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2633472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VBEP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633472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LIKP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980944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LIPS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980944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VBFA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520439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A6A6A6"/>
                </a:solidFill>
              </a:defRPr>
            </a:pPr>
            <a:r>
              <a:t>Simulation &amp; Production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749039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AFKO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49039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RESB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4096511"/>
            <a:ext cx="1371600" cy="3200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>
              <a:defRPr sz="900" b="0">
                <a:solidFill>
                  <a:srgbClr val="003366"/>
                </a:solidFill>
              </a:defRPr>
            </a:pPr>
            <a:r>
              <a:t>MATDOC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914400"/>
            <a:ext cx="4297680" cy="640080"/>
          </a:xfrm>
          <a:prstGeom prst="roundRect">
            <a:avLst/>
          </a:prstGeom>
          <a:solidFill>
            <a:srgbClr val="F0F8FF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defRPr sz="800">
                <a:solidFill>
                  <a:srgbClr val="404040"/>
                </a:solidFill>
              </a:defRPr>
            </a:pPr>
            <a:r>
              <a:t>Deterministic Generation</a:t>
            </a:r>
            <a:br/>
            <a:r>
              <a:t>   Same seed = same data every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645920"/>
            <a:ext cx="4297680" cy="777240"/>
          </a:xfrm>
          <a:prstGeom prst="roundRect">
            <a:avLst/>
          </a:prstGeom>
          <a:solidFill>
            <a:srgbClr val="F0FFF0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defRPr sz="800">
                <a:solidFill>
                  <a:srgbClr val="404040"/>
                </a:solidFill>
              </a:defRPr>
            </a:pPr>
            <a:r>
              <a:t>Hub &amp; Spoke Network Simulation</a:t>
            </a:r>
            <a:br/>
            <a:r>
              <a:t>   - Central hub supplies spoke plants</a:t>
            </a:r>
            <a:br/>
            <a:r>
              <a:t>   - Safety stock &amp; MOQ logic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514600"/>
            <a:ext cx="4297680" cy="640080"/>
          </a:xfrm>
          <a:prstGeom prst="roundRect">
            <a:avLst/>
          </a:prstGeom>
          <a:solidFill>
            <a:srgbClr val="F0FFF0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defRPr sz="800">
                <a:solidFill>
                  <a:srgbClr val="404040"/>
                </a:solidFill>
              </a:defRPr>
            </a:pPr>
            <a:r>
              <a:t>BOM Explosion for Production</a:t>
            </a:r>
            <a:br/>
            <a:r>
              <a:t>   Auto-generates component consumption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3246120"/>
            <a:ext cx="4297680" cy="777240"/>
          </a:xfrm>
          <a:prstGeom prst="roundRect">
            <a:avLst/>
          </a:prstGeom>
          <a:solidFill>
            <a:srgbClr val="F0FFF0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defRPr sz="800">
                <a:solidFill>
                  <a:srgbClr val="404040"/>
                </a:solidFill>
              </a:defRPr>
            </a:pPr>
            <a:r>
              <a:t>Transportation Lanes</a:t>
            </a:r>
            <a:br/>
            <a:r>
              <a:t>   - Route calculation (distance/time)</a:t>
            </a:r>
            <a:br/>
            <a:r>
              <a:t>   - Mode selection (truck/ship/rail)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4114800"/>
            <a:ext cx="4297680" cy="868680"/>
          </a:xfrm>
          <a:prstGeom prst="roundRect">
            <a:avLst/>
          </a:prstGeom>
          <a:solidFill>
            <a:srgbClr val="FFFAF0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defRPr sz="800">
                <a:solidFill>
                  <a:srgbClr val="404040"/>
                </a:solidFill>
              </a:defRPr>
            </a:pPr>
            <a:r>
              <a:t>Scenario Injection</a:t>
            </a:r>
            <a:br/>
            <a:r>
              <a:t>   - Product contamination recall</a:t>
            </a:r>
            <a:br/>
            <a:r>
              <a:t>   - Warehouse fire</a:t>
            </a:r>
            <a:br/>
            <a:r>
              <a:t>   - Demand spike / Temperature excursion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5074920"/>
            <a:ext cx="4297680" cy="114300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defRPr sz="800">
                <a:solidFill>
                  <a:srgbClr val="404040"/>
                </a:solidFill>
              </a:defRPr>
            </a:pPr>
            <a:r>
              <a:t>Dirty Data Generation</a:t>
            </a:r>
            <a:br/>
            <a:r>
              <a:t>   - Key format issues (spaces, zeros)</a:t>
            </a:r>
            <a:br/>
            <a:r>
              <a:t>   - Orphan foreign keys (~3%)</a:t>
            </a:r>
            <a:br/>
            <a:r>
              <a:t>   - Duplicate primary keys (~1%)</a:t>
            </a:r>
            <a:br/>
            <a:r>
              <a:t>   - NULL values in required fields (~2%)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6309360"/>
            <a:ext cx="4297680" cy="457200"/>
          </a:xfrm>
          <a:prstGeom prst="roundRect">
            <a:avLst/>
          </a:prstGeom>
          <a:solidFill>
            <a:srgbClr val="F0F8FF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>
              <a:defRPr sz="800">
                <a:solidFill>
                  <a:srgbClr val="404040"/>
                </a:solidFill>
              </a:defRPr>
            </a:pPr>
            <a:r>
              <a:t>Realistic Pricing from MBEW with markup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965960" y="1645920"/>
            <a:ext cx="274320" cy="18288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3200400" y="1691640"/>
            <a:ext cx="164592" cy="109728"/>
          </a:xfrm>
          <a:prstGeom prst="down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3200400" y="2606040"/>
            <a:ext cx="164592" cy="109728"/>
          </a:xfrm>
          <a:prstGeom prst="down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3200400" y="3520440"/>
            <a:ext cx="164592" cy="109728"/>
          </a:xfrm>
          <a:prstGeom prst="down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3200400" y="4434840"/>
            <a:ext cx="164592" cy="109728"/>
          </a:xfrm>
          <a:prstGeom prst="down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own Arrow 43"/>
          <p:cNvSpPr/>
          <p:nvPr/>
        </p:nvSpPr>
        <p:spPr>
          <a:xfrm>
            <a:off x="3200400" y="5349240"/>
            <a:ext cx="164592" cy="109728"/>
          </a:xfrm>
          <a:prstGeom prst="down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4343400" y="2926080"/>
            <a:ext cx="365760" cy="182880"/>
          </a:xfrm>
          <a:prstGeom prst="rightArrow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731520"/>
            <a:ext cx="219456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Configuration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1097280"/>
            <a:ext cx="2194560" cy="1005840"/>
          </a:xfrm>
          <a:prstGeom prst="rect">
            <a:avLst/>
          </a:prstGeom>
          <a:solidFill>
            <a:srgbClr val="F0F0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E86AB"/>
                </a:solidFill>
              </a:defRPr>
            </a:pPr>
            <a:r>
              <a:t>Shared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CATALOG = sample_synthetic_sap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SCHEMA = sap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RANDOM_SEED = 42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GENERATE_DIRTY_DATA = false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DIRTY_DATA_RATE = 0.05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2194560"/>
            <a:ext cx="2194560" cy="1280160"/>
          </a:xfrm>
          <a:prstGeom prst="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8E3C"/>
                </a:solidFill>
              </a:defRPr>
            </a:pPr>
            <a:r>
              <a:t>Masterdata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NUM_CUSTOMERS = 30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NUM_FINISHED_GOODS = 40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NUM_RAW_MATERIALS = 30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MOQ_FINISHED_MIN = 250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MOQ_FINISHED_MAX = 1000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MOQ_RAW_MIN = 1000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MOQ_RAW_MAX = 10000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" y="3566160"/>
            <a:ext cx="2194560" cy="914400"/>
          </a:xfrm>
          <a:prstGeom prst="rect">
            <a:avLst/>
          </a:prstGeom>
          <a:solidFill>
            <a:srgbClr val="E3F2FD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976D2"/>
                </a:solidFill>
              </a:defRPr>
            </a:pPr>
            <a:r>
              <a:t>Transactions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NUM_ORDERS = 5000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HUB_PLANT = 1000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DELIVERY_FILL_RATE = 0.8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00">
                <a:latin typeface="Consolas"/>
              </a:defRPr>
            </a:pPr>
            <a:r>
              <a:t>SAFETY_STOCK_WEEKS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